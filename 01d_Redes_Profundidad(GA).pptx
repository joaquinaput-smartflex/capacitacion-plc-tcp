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– Bloque A2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Redes en profundidad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IP, MAC, DHCP, ping, tracert, switch, router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274320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esenciales antes de configurar Modbus TCP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931920"/>
            <a:ext cx="192024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931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y MAC (10 min)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3931920"/>
            <a:ext cx="1920240" cy="4572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3931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 vs Estática (8 min)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3931920"/>
            <a:ext cx="192024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3931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CMD (7 min)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0" y="3931920"/>
            <a:ext cx="192024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3931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vs Router (5 min)</a:t>
            </a:r>
            <a:endParaRPr lang="en-US" sz="1100" dirty="0"/>
          </a:p>
        </p:txBody>
      </p:sp>
      <p:pic>
        <p:nvPicPr>
          <p:cNvPr id="1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  <p:pic>
        <p:nvPicPr>
          <p:cNvPr id="1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48056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Dirección MAC vs Dirección IP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45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1005840"/>
            <a:ext cx="3840480" cy="4572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10058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MAC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57200" y="146304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594360" y="155448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"DNI" del dispositivo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Viene de fábrica, no se cambia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Formato: 00:1A:2B:3C:4D:5E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pares hexadecimales (48 bits)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Única en el mundo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en capa 2 (Enlace)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switch la usa para entregar tramas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846320" y="1005840"/>
            <a:ext cx="3840480" cy="4572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4" name="Text 10"/>
          <p:cNvSpPr/>
          <p:nvPr/>
        </p:nvSpPr>
        <p:spPr>
          <a:xfrm>
            <a:off x="4846320" y="10058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IP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846320" y="146304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983480" y="155448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"Dirección postal" del dispositivo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configura (manual o DHCP)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Formato: 192.168.0.82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números de 0-255 (32 bits)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cambiar según la red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en capa 3 (Red)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router la usa para enrutar paquetes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3703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Analogía: </a:t>
            </a:r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MAC es como tu DNI (te identifica siempre). La IP es como tu dirección postal (cambia si te mudás). La tabla ARP vincula ambas: "la IP 192.168.0.82 corresponde a la MAC 00:1A:2B:3C:4D:5E".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Tabla ARP: cómo se vinculan MAC e IP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45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 PC quiere enviar datos a la IP 192.168.0.82, necesita saber la MAC del destino para armar la trama Ethernet. Eso lo resuelve ARP (Address Resolution Protocol).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automático: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PC pregunta a toda la red: "¿Quién tiene la IP 192.168.0.82?"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El PLC responde: "¡Yo! Mi MAC es 00:1A:2B:3C:4D:5E"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La PC guarda esa relación en su tabla ARP (caché)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ver la tabla ARP de tu PC: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1" name="Text 7"/>
          <p:cNvSpPr/>
          <p:nvPr/>
        </p:nvSpPr>
        <p:spPr>
          <a:xfrm>
            <a:off x="640080" y="3017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C:\&gt; arp -a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40080" y="35661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ejemplo: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192.168.0.82    00-1a-2b-3c-4d-5e    dinámico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192.168.0.1     aa-bb-cc-dd-ee-ff    dinámico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¿Por qué NO puede haber IPs duplicadas?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45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DISPOSITIVOS CON LA MISMA IP = CONFLICTO = NADA FUNCIONA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pasa si dos dispositivos tienen la misma IP?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red no sabe a cuál de los dos enviar los paquetes. Los datos llegan al dispositivo equivocado o se pierden. La comunicación se vuelve errática e impredecible.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Síntomas de IP duplicada: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346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Síntoma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se 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Conexión intermitente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veces conecta, a veces no (depende de quién responde primero)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muestra alerta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"Se detectó un conflicto de dirección IP"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Ping responde raro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Tiempos variables o respuestas de MAC distinta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ISPSoft conecta/desconecta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conecta un momento y se cae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Regla: SIEMPRE verificar que cada dispositivo tenga una IP única antes de conectar. Usar ping para verificar si una IP ya está en uso.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DHCP vs IP Estática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45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274320" y="1005840"/>
            <a:ext cx="4114800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6"/>
          <p:cNvSpPr/>
          <p:nvPr/>
        </p:nvSpPr>
        <p:spPr>
          <a:xfrm>
            <a:off x="274320" y="1005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 (Automática)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274320" y="146304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11480" y="155448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router asigna IPs automáticamente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Dispositivo se conecta a la red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Pide IP al servidor DHCP (router)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Router asigna una IP libre del rango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La IP puede cambiar al reconectar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Uso: PCs, celulares, tablets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754880" y="1005840"/>
            <a:ext cx="411480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" name="Text 10"/>
          <p:cNvSpPr/>
          <p:nvPr/>
        </p:nvSpPr>
        <p:spPr>
          <a:xfrm>
            <a:off x="4754880" y="1005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ESTÁTICA (Manual)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754880" y="146304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892040" y="155448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técnico asigna la IP manualmente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 configura IP fija en el dispositivo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La IP nunca cambia (predecible)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Hay que evitar duplicados manualmente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 documenta en un mapa de red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Uso: PLCs, SCADA, HMI, sensores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8" name="Text 14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automatización industrial SIEMPRE usamos IP ESTÁTICA para PLCs y dispositivos de control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qué? Porque si la IP del PLC cambia, el SCADA no lo encuentra más. En un gasoducto eso = pérdida de monitoreo.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IP Privada vs IP Pública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45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direcciones IP se dividen en dos mundos: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971800"/>
                <a:gridCol w="2971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Privada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Pública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Dónde se usa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local (fábrica, oficina, casa)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Quién la asigna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técnico o el router DHCP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proveedor de internet (ISP)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Única?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dentro de tu 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todo el mundo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192.168.0.82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203.0.113.50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PLC usa?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 – siempre IP privada estática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– nunca directamente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Rangos de IP privada (memorizar):</a:t>
            </a:r>
            <a:endParaRPr lang="en-US" sz="14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661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228600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común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08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 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192.168.255.255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Redes pequeñas (casa, taller, PLCs)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10.255.255.255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Redes grandes (fábricas, corporativas)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172.16.0.0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172.31.255.255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Redes medianas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Herramientas de diagnóstico: CMD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45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560320"/>
                <a:gridCol w="256032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Comando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hace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Cuándo usarlo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Envía paquetes y mide respuesta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ping 192.168.0.82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Verificar si un dispositivo responde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ping -t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Ping continuo (no para)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ping -t 192.168.0.82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Monitoreo sostenido, Ctrl+C para cortar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ping -n 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Envía exactamente N paquetes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ping -n 10 192.168.0.82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rápido con cantidad específica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Muestra la ruta al destino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tracert 192.168.0.82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Encontrar dónde se corta la ruta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ipconfig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Muestra IP de la PC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ipconfig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 IP, máscara, gateway rápido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ipconfig /all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Muestra todo (inc. MAC)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ipconfig /all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 MAC de la PC, servidor DHCP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arp -a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Tabla MAC ↔ 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arp -a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 qué MACs están en la 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estos comandos se ejecutan en CMD (Símbolo del sistema) de Windows. Abrir: Win+R → escribir cmd → Enter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Regla: si el ping funciona → las capas 1-3 están OK. Si tracert se corta en un salto → el problema está ahí.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Interpretando el ping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45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274320" y="1005840"/>
            <a:ext cx="8595360" cy="12801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10515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C:\&gt; ping 192.168.0.82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Haciendo ping a 192.168.0.82 con 32 bytes de datos: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Respuesta desde 192.168.0.82: bytes=32 tiempo=1ms TTL=64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Respuesta desde 192.168.0.82: bytes=32 tiempo=1ms TTL=64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Respuesta desde 192.168.0.82: bytes=32 tiempo&lt;1ms TTL=64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Respuesta desde 192.168.0.82: bytes=32 tiempo=2ms TTL=64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leer la respuesta: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4320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normal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08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tiempo=1ms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Cuánto tardó la ida y vuelta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&lt;10ms en red local = excelente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TTL=64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Saltos de vida restantes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o 128 = conexión directa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bytes=32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Tamaño del paquete de prueba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bytes por defecto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"Tiempo agotado"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hubo respuesta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incorrecta, cable, o firewall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"Host inalcanzable"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diferente o sin gateway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Revisar máscara de subred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Tracert: trazando la ruta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45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274320" y="1005840"/>
            <a:ext cx="8595360" cy="10972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10515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C:\&gt; tracert 192.168.0.82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    &lt;1 ms   &lt;1 ms   &lt;1 ms  192.168.0.1     ← router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     1 ms    1 ms    1 ms  192.168.0.82    ← PLC ¡llegó!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7200" y="219456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línea es un "salto" en la ruta. En una red local simple debería haber 1-2 saltos.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usar tracert?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ping falla y no sabés dónde está el problema.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tracert se corta en el salto 1 → problema entre PC y router/switch.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tracert llega al router pero no al PLC → problema entre switch y PLC.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redes industriales simples (todo en el mismo switch), tracert muestra 1 solo salto directo al PLC.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Switch vs Router: ¿cuál es cuál?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45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004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 OSI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 2 (Enlace)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 3 (Red)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Trabaja con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Direcciones MAC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Direcciones 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Función principal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Conectar dispositivos en la MISMA 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Conectar redes DISTINTAS entre sí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Asigna IPs?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 (tiene servidor DHCP)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Tiene WiFi?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(solo cable)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 (los domésticos)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 / Internet?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 (conecta a internet)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Cantidad puertos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4, 8, 16, 24, 48...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Generalmente 4 LAN + 1 WAN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industrial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Conectar PLCs, HMIs, PCs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 acceso a internet / VPN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WiFi doméstico = Router + Switch + Access Point WiFi (3 dispositivos en 1 caja)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Armando la red del taller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45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Topología típica para prácticas con PLC: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57200" y="1554480"/>
            <a:ext cx="1828800" cy="109728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254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57200" y="155448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WiFi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" y="1938528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192.168.0.1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 para PCs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internet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3200400" y="1554480"/>
            <a:ext cx="1828800" cy="1097280"/>
          </a:xfrm>
          <a:prstGeom prst="rect">
            <a:avLst/>
          </a:prstGeom>
          <a:solidFill>
            <a:srgbClr val="2980B9"/>
          </a:solidFill>
          <a:ln/>
          <a:effectLst>
            <a:outerShdw sx="100000" sy="100000" kx="0" ky="0" algn="bl" rotWithShape="0" blurRad="254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3200400" y="155448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200400" y="1938528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puertos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config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conecta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5943600" y="1371600"/>
            <a:ext cx="1828800" cy="73152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254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5943600" y="13716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DVP12SE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5943600" y="162763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192.168.0.82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estática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502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5943600" y="2286000"/>
            <a:ext cx="1828800" cy="6400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254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5943600" y="22860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Instructor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5943600" y="2510028"/>
            <a:ext cx="1828800" cy="4160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192.168.0.10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ISPSoft + COMMGR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5943600" y="3108960"/>
            <a:ext cx="1828800" cy="4572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254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5943600" y="31089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Alumno 1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5943600" y="3268980"/>
            <a:ext cx="1828800" cy="297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192.168.0.11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5943600" y="3657600"/>
            <a:ext cx="1828800" cy="4572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254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5943600" y="36576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Alumno 2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5943600" y="3817620"/>
            <a:ext cx="1828800" cy="297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192.168.0.12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2286000" y="2057400"/>
            <a:ext cx="914400" cy="36576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29" name="Shape 25"/>
          <p:cNvSpPr/>
          <p:nvPr/>
        </p:nvSpPr>
        <p:spPr>
          <a:xfrm>
            <a:off x="5029200" y="1691640"/>
            <a:ext cx="914400" cy="36576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30" name="Shape 26"/>
          <p:cNvSpPr/>
          <p:nvPr/>
        </p:nvSpPr>
        <p:spPr>
          <a:xfrm>
            <a:off x="5029200" y="2560320"/>
            <a:ext cx="914400" cy="36576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31" name="Shape 27"/>
          <p:cNvSpPr/>
          <p:nvPr/>
        </p:nvSpPr>
        <p:spPr>
          <a:xfrm>
            <a:off x="5029200" y="3291840"/>
            <a:ext cx="914400" cy="36576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32" name="Shape 28"/>
          <p:cNvSpPr/>
          <p:nvPr/>
        </p:nvSpPr>
        <p:spPr>
          <a:xfrm>
            <a:off x="5029200" y="3840480"/>
            <a:ext cx="914400" cy="36576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33" name="Text 29"/>
          <p:cNvSpPr/>
          <p:nvPr/>
        </p:nvSpPr>
        <p:spPr>
          <a:xfrm>
            <a:off x="2286000" y="1554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5029200" y="1371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RJ45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VLANs: separar redes (conceptual)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45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instalaciones industriales es común separar la red de oficina de la red de PLCs por seguridad.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= Virtual LAN: el switch "divide" sus puertos en redes lógicas separadas.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Puertos 1-4 del switch → VLAN 10 (Red Oficina: 192.168.1.x)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Puertos 5-8 del switch → VLAN 20 (Red Industrial: 192.168.0.x)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dispositivos de VLAN 10 NO pueden ver los de VLAN 20 (y viceversa).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protege los PLCs de accesos no autorizados desde la red de oficina.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vamos a configurar VLANs en este curso, pero es importante saber que existen para entender por qué a veces "no veo el PLC" desde mi PC de escritorio.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Resumen – Redes en profundidad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28600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1371600" cy="41148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03120" y="13716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Identificador físico único de fábrica – no se cambia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810512"/>
            <a:ext cx="1371600" cy="41148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1051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03120" y="181051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Identificador lógico configurable – debe ser única en la red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249424"/>
            <a:ext cx="1371600" cy="4114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249424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03120" y="224942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 automática (PCs) vs Estática (PLCs, siempre)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688336"/>
            <a:ext cx="1371600" cy="41148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688336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Privada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03120" y="2688336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192.168.x.x / 10.x.x.x – rangos para redes internas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127248"/>
            <a:ext cx="1371600" cy="4114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12724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ping/tracert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03120" y="312724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esenciales de diagnóstico en CMD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566160"/>
            <a:ext cx="1371600" cy="41148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566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103120" y="3566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2: conecta dispositivos en la misma red (por MAC)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005072"/>
            <a:ext cx="1371600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00507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103120" y="400507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3: conecta redes distintas, asigna IPs, tiene WiFi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4023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esto claro, ahora sí podemos entender cómo funciona Modbus TCP sobre esta infraestructura de red.</a:t>
            </a:r>
            <a:endParaRPr lang="en-US" sz="1300" dirty="0"/>
          </a:p>
        </p:txBody>
      </p:sp>
      <p:pic>
        <p:nvPicPr>
          <p:cNvPr id="27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  <p:pic>
        <p:nvPicPr>
          <p:cNvPr id="28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43891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Modulo 2 - Modbus TCP (ampliado)</dc:title>
  <dc:subject>PptxGenJS Presentation</dc:subject>
  <dc:creator>VALBOL</dc:creator>
  <cp:lastModifiedBy>VALBOL</cp:lastModifiedBy>
  <cp:revision>1</cp:revision>
  <dcterms:created xsi:type="dcterms:W3CDTF">2026-03-16T10:54:59Z</dcterms:created>
  <dcterms:modified xsi:type="dcterms:W3CDTF">2026-03-16T10:54:59Z</dcterms:modified>
</cp:coreProperties>
</file>