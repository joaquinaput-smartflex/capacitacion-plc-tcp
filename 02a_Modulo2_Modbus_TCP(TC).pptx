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jp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jp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image" Target="../media/image-24-7.png"/><Relationship Id="rId8" Type="http://schemas.openxmlformats.org/officeDocument/2006/relationships/image" Target="../media/image-2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Modbus TCP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origen a la práctica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2743200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0175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Duración: 3 horas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+ Teoría + 6 Ejercicios prácticos graduales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931920"/>
            <a:ext cx="256032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9319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(20 min)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3931920"/>
            <a:ext cx="2560320" cy="45720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39319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(40 min)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852160" y="3931920"/>
            <a:ext cx="256032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5852160" y="39319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Ejercicios (120 min)</a:t>
            </a:r>
            <a:endParaRPr lang="en-US" sz="1200" dirty="0"/>
          </a:p>
        </p:txBody>
      </p:sp>
      <p:pic>
        <p:nvPicPr>
          <p:cNvPr id="14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274320"/>
            <a:ext cx="1828800" cy="457200"/>
          </a:xfrm>
          <a:prstGeom prst="rect">
            <a:avLst/>
          </a:prstGeom>
        </p:spPr>
      </p:pic>
      <p:pic>
        <p:nvPicPr>
          <p:cNvPr id="15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48056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 del módulo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35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960120"/>
            <a:ext cx="7498080" cy="35661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4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05840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14400" y="960120"/>
            <a:ext cx="5943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de Modbus: origen, evolución, por qué es el estándar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6949440" y="960120"/>
            <a:ext cx="8229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457200" y="1325880"/>
            <a:ext cx="7498080" cy="35661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4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371600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14400" y="1325880"/>
            <a:ext cx="5943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Master/Slave y modelo de datos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6949440" y="1325880"/>
            <a:ext cx="8229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457200" y="1691640"/>
            <a:ext cx="7498080" cy="35661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4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737360"/>
            <a:ext cx="256032" cy="25603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14400" y="1691640"/>
            <a:ext cx="5943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Modbus: H03, H06, H10 y mapeo de registros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6949440" y="1691640"/>
            <a:ext cx="8229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457200" y="2057400"/>
            <a:ext cx="7498080" cy="35661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4000"/>
              </a:srgbClr>
            </a:outerShdw>
          </a:effectLst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2103120"/>
            <a:ext cx="256032" cy="256032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914400" y="2057400"/>
            <a:ext cx="5943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Modbus TCP vs RTU: diferencias y estructura de trama</a:t>
            </a:r>
            <a:endParaRPr lang="en-US" sz="1100" dirty="0"/>
          </a:p>
        </p:txBody>
      </p:sp>
      <p:sp>
        <p:nvSpPr>
          <p:cNvPr id="24" name="Text 16"/>
          <p:cNvSpPr/>
          <p:nvPr/>
        </p:nvSpPr>
        <p:spPr>
          <a:xfrm>
            <a:off x="6949440" y="2057400"/>
            <a:ext cx="8229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00" dirty="0"/>
          </a:p>
        </p:txBody>
      </p:sp>
      <p:sp>
        <p:nvSpPr>
          <p:cNvPr id="25" name="Shape 17"/>
          <p:cNvSpPr/>
          <p:nvPr/>
        </p:nvSpPr>
        <p:spPr>
          <a:xfrm>
            <a:off x="457200" y="2423160"/>
            <a:ext cx="7498080" cy="35661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4000"/>
              </a:srgbClr>
            </a:outerShdw>
          </a:effectLst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2468880"/>
            <a:ext cx="256032" cy="256032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914400" y="2423160"/>
            <a:ext cx="5943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1: Primer contacto con ModbusClientX</a:t>
            </a:r>
            <a:endParaRPr lang="en-US" sz="1100" dirty="0"/>
          </a:p>
        </p:txBody>
      </p:sp>
      <p:sp>
        <p:nvSpPr>
          <p:cNvPr id="28" name="Text 19"/>
          <p:cNvSpPr/>
          <p:nvPr/>
        </p:nvSpPr>
        <p:spPr>
          <a:xfrm>
            <a:off x="6949440" y="2423160"/>
            <a:ext cx="8229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00" dirty="0"/>
          </a:p>
        </p:txBody>
      </p:sp>
      <p:sp>
        <p:nvSpPr>
          <p:cNvPr id="29" name="Shape 20"/>
          <p:cNvSpPr/>
          <p:nvPr/>
        </p:nvSpPr>
        <p:spPr>
          <a:xfrm>
            <a:off x="457200" y="2788920"/>
            <a:ext cx="7498080" cy="35661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4000"/>
              </a:srgbClr>
            </a:outerShdw>
          </a:effectLst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2834640"/>
            <a:ext cx="256032" cy="256032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914400" y="2788920"/>
            <a:ext cx="5943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2: Leer entradas reales del PLC</a:t>
            </a:r>
            <a:endParaRPr lang="en-US" sz="1100" dirty="0"/>
          </a:p>
        </p:txBody>
      </p:sp>
      <p:sp>
        <p:nvSpPr>
          <p:cNvPr id="32" name="Text 22"/>
          <p:cNvSpPr/>
          <p:nvPr/>
        </p:nvSpPr>
        <p:spPr>
          <a:xfrm>
            <a:off x="6949440" y="2788920"/>
            <a:ext cx="8229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00" dirty="0"/>
          </a:p>
        </p:txBody>
      </p:sp>
      <p:sp>
        <p:nvSpPr>
          <p:cNvPr id="33" name="Shape 23"/>
          <p:cNvSpPr/>
          <p:nvPr/>
        </p:nvSpPr>
        <p:spPr>
          <a:xfrm>
            <a:off x="457200" y="3154680"/>
            <a:ext cx="7498080" cy="35661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4000"/>
              </a:srgbClr>
            </a:outerShdw>
          </a:effectLst>
        </p:spPr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3200400"/>
            <a:ext cx="256032" cy="256032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914400" y="3154680"/>
            <a:ext cx="5943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3: Escribir valores en registros D</a:t>
            </a:r>
            <a:endParaRPr lang="en-US" sz="1100" dirty="0"/>
          </a:p>
        </p:txBody>
      </p:sp>
      <p:sp>
        <p:nvSpPr>
          <p:cNvPr id="36" name="Text 25"/>
          <p:cNvSpPr/>
          <p:nvPr/>
        </p:nvSpPr>
        <p:spPr>
          <a:xfrm>
            <a:off x="6949440" y="3154680"/>
            <a:ext cx="8229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00" dirty="0"/>
          </a:p>
        </p:txBody>
      </p:sp>
      <p:sp>
        <p:nvSpPr>
          <p:cNvPr id="37" name="Shape 26"/>
          <p:cNvSpPr/>
          <p:nvPr/>
        </p:nvSpPr>
        <p:spPr>
          <a:xfrm>
            <a:off x="457200" y="3520440"/>
            <a:ext cx="7498080" cy="35661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4000"/>
              </a:srgbClr>
            </a:outerShdw>
          </a:effectLst>
        </p:spPr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" y="3566160"/>
            <a:ext cx="256032" cy="256032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914400" y="3520440"/>
            <a:ext cx="5943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4: Leer y escribir simultáneamente</a:t>
            </a:r>
            <a:endParaRPr lang="en-US" sz="1100" dirty="0"/>
          </a:p>
        </p:txBody>
      </p:sp>
      <p:sp>
        <p:nvSpPr>
          <p:cNvPr id="40" name="Text 28"/>
          <p:cNvSpPr/>
          <p:nvPr/>
        </p:nvSpPr>
        <p:spPr>
          <a:xfrm>
            <a:off x="6949440" y="3520440"/>
            <a:ext cx="8229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00" dirty="0"/>
          </a:p>
        </p:txBody>
      </p:sp>
      <p:sp>
        <p:nvSpPr>
          <p:cNvPr id="41" name="Shape 29"/>
          <p:cNvSpPr/>
          <p:nvPr/>
        </p:nvSpPr>
        <p:spPr>
          <a:xfrm>
            <a:off x="457200" y="3886200"/>
            <a:ext cx="7498080" cy="35661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4000"/>
              </a:srgbClr>
            </a:outerShdw>
          </a:effectLst>
        </p:spPr>
      </p:sp>
      <p:pic>
        <p:nvPicPr>
          <p:cNvPr id="4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8640" y="3931920"/>
            <a:ext cx="256032" cy="256032"/>
          </a:xfrm>
          <a:prstGeom prst="rect">
            <a:avLst/>
          </a:prstGeom>
        </p:spPr>
      </p:pic>
      <p:sp>
        <p:nvSpPr>
          <p:cNvPr id="43" name="Text 30"/>
          <p:cNvSpPr/>
          <p:nvPr/>
        </p:nvSpPr>
        <p:spPr>
          <a:xfrm>
            <a:off x="914400" y="3886200"/>
            <a:ext cx="5943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5: Simular datos de sensores Line Break</a:t>
            </a:r>
            <a:endParaRPr lang="en-US" sz="1100" dirty="0"/>
          </a:p>
        </p:txBody>
      </p:sp>
      <p:sp>
        <p:nvSpPr>
          <p:cNvPr id="44" name="Text 31"/>
          <p:cNvSpPr/>
          <p:nvPr/>
        </p:nvSpPr>
        <p:spPr>
          <a:xfrm>
            <a:off x="6949440" y="3886200"/>
            <a:ext cx="8229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000" dirty="0"/>
          </a:p>
        </p:txBody>
      </p:sp>
      <p:sp>
        <p:nvSpPr>
          <p:cNvPr id="45" name="Shape 32"/>
          <p:cNvSpPr/>
          <p:nvPr/>
        </p:nvSpPr>
        <p:spPr>
          <a:xfrm>
            <a:off x="457200" y="4251960"/>
            <a:ext cx="7498080" cy="35661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4000"/>
              </a:srgbClr>
            </a:outerShdw>
          </a:effectLst>
        </p:spPr>
      </p:sp>
      <p:pic>
        <p:nvPicPr>
          <p:cNvPr id="4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8640" y="4297680"/>
            <a:ext cx="256032" cy="256032"/>
          </a:xfrm>
          <a:prstGeom prst="rect">
            <a:avLst/>
          </a:prstGeom>
        </p:spPr>
      </p:pic>
      <p:sp>
        <p:nvSpPr>
          <p:cNvPr id="47" name="Text 33"/>
          <p:cNvSpPr/>
          <p:nvPr/>
        </p:nvSpPr>
        <p:spPr>
          <a:xfrm>
            <a:off x="914400" y="4251960"/>
            <a:ext cx="5943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6: Comunicación PLC a PLC con DCISoft</a:t>
            </a:r>
            <a:endParaRPr lang="en-US" sz="1100" dirty="0"/>
          </a:p>
        </p:txBody>
      </p:sp>
      <p:sp>
        <p:nvSpPr>
          <p:cNvPr id="48" name="Text 34"/>
          <p:cNvSpPr/>
          <p:nvPr/>
        </p:nvSpPr>
        <p:spPr>
          <a:xfrm>
            <a:off x="6949440" y="4251960"/>
            <a:ext cx="8229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1031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BLOQUE A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48640" y="30175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de Modbus (20 min)</a:t>
            </a:r>
            <a:endParaRPr lang="en-US" sz="1600" dirty="0"/>
          </a:p>
        </p:txBody>
      </p:sp>
      <p:pic>
        <p:nvPicPr>
          <p:cNvPr id="6" name="Image 1" descr="/home/claude/valbol_log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74320"/>
            <a:ext cx="1828800" cy="457200"/>
          </a:xfrm>
          <a:prstGeom prst="rect">
            <a:avLst/>
          </a:prstGeom>
        </p:spPr>
      </p:pic>
      <p:pic>
        <p:nvPicPr>
          <p:cNvPr id="7" name="Image 2" descr="/home/claude/smartflex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438912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1979: Nace Modbus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35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1979, la empresa Modicon (creadores del primer PLC en 1968) publica Modbus como protocolo de comunicación para sus controladores.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que resolvía: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ese momento, cada fabricante tenía su propio método de comunicación. No había forma estándar de que un PLC hablara con una computadora, un sensor inteligente o con otro PLC.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protocolo abierto, simple, sin licencia, que cualquier fabricante pudiera implementar.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Modicon = </a:t>
            </a:r>
            <a:pPr indent="0" marL="0">
              <a:buNone/>
            </a:pPr>
            <a:r>
              <a:rPr lang="en-US" sz="12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DIgital CONtroller. La empresa fue fundada en 1968 por Dick Morley (inventor del PLC) y sus socios. Hoy es parte de Schneider Electric.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Línea de tiempo de Modbus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35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1005840"/>
            <a:ext cx="1005840" cy="384048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100584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1968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1554480" y="1170432"/>
            <a:ext cx="274320" cy="36576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2" name="Text 8"/>
          <p:cNvSpPr/>
          <p:nvPr/>
        </p:nvSpPr>
        <p:spPr>
          <a:xfrm>
            <a:off x="1920240" y="100584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Modicon crea el primer PLC (Modicon 084)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57200" y="1426464"/>
            <a:ext cx="1005840" cy="3840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4" name="Text 10"/>
          <p:cNvSpPr/>
          <p:nvPr/>
        </p:nvSpPr>
        <p:spPr>
          <a:xfrm>
            <a:off x="457200" y="1426464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1979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1554480" y="1591056"/>
            <a:ext cx="274320" cy="3657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6" name="Text 12"/>
          <p:cNvSpPr/>
          <p:nvPr/>
        </p:nvSpPr>
        <p:spPr>
          <a:xfrm>
            <a:off x="1920240" y="1426464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publica Modbus como protocolo abierto sobre RS-232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57200" y="1847088"/>
            <a:ext cx="1005840" cy="384048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8" name="Text 14"/>
          <p:cNvSpPr/>
          <p:nvPr/>
        </p:nvSpPr>
        <p:spPr>
          <a:xfrm>
            <a:off x="457200" y="1847088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1980s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1554480" y="2011680"/>
            <a:ext cx="274320" cy="36576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20" name="Text 16"/>
          <p:cNvSpPr/>
          <p:nvPr/>
        </p:nvSpPr>
        <p:spPr>
          <a:xfrm>
            <a:off x="1920240" y="1847088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a RS-485: más distancia, multi-drop, industrial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457200" y="2267712"/>
            <a:ext cx="1005840" cy="38404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2" name="Text 18"/>
          <p:cNvSpPr/>
          <p:nvPr/>
        </p:nvSpPr>
        <p:spPr>
          <a:xfrm>
            <a:off x="457200" y="226771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1990s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1554480" y="2432304"/>
            <a:ext cx="274320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4" name="Text 20"/>
          <p:cNvSpPr/>
          <p:nvPr/>
        </p:nvSpPr>
        <p:spPr>
          <a:xfrm>
            <a:off x="1920240" y="2267712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 de dispositivos soportan Modbus RTU. Estándar de facto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457200" y="2688336"/>
            <a:ext cx="1005840" cy="38404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6" name="Text 22"/>
          <p:cNvSpPr/>
          <p:nvPr/>
        </p:nvSpPr>
        <p:spPr>
          <a:xfrm>
            <a:off x="457200" y="2688336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1999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1554480" y="2852928"/>
            <a:ext cx="274320" cy="3657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8" name="Text 24"/>
          <p:cNvSpPr/>
          <p:nvPr/>
        </p:nvSpPr>
        <p:spPr>
          <a:xfrm>
            <a:off x="1920240" y="2688336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lanza Modbus TCP: Modbus sobre Ethernet/TCP-IP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457200" y="3108960"/>
            <a:ext cx="1005840" cy="384048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30" name="Text 26"/>
          <p:cNvSpPr/>
          <p:nvPr/>
        </p:nvSpPr>
        <p:spPr>
          <a:xfrm>
            <a:off x="457200" y="310896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2002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1554480" y="3273552"/>
            <a:ext cx="274320" cy="36576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32" name="Text 28"/>
          <p:cNvSpPr/>
          <p:nvPr/>
        </p:nvSpPr>
        <p:spPr>
          <a:xfrm>
            <a:off x="1920240" y="310896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crea la Modbus Organization (modbus.org)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457200" y="3529584"/>
            <a:ext cx="1005840" cy="38404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4" name="Text 30"/>
          <p:cNvSpPr/>
          <p:nvPr/>
        </p:nvSpPr>
        <p:spPr>
          <a:xfrm>
            <a:off x="457200" y="3529584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2004</a:t>
            </a:r>
            <a:endParaRPr 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1554480" y="3694176"/>
            <a:ext cx="27432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6" name="Text 32"/>
          <p:cNvSpPr/>
          <p:nvPr/>
        </p:nvSpPr>
        <p:spPr>
          <a:xfrm>
            <a:off x="1920240" y="3529584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Schneider Electric libera Modbus al dominio público</a:t>
            </a:r>
            <a:endParaRPr lang="en-US" sz="1200" dirty="0"/>
          </a:p>
        </p:txBody>
      </p:sp>
      <p:sp>
        <p:nvSpPr>
          <p:cNvPr id="37" name="Shape 33"/>
          <p:cNvSpPr/>
          <p:nvPr/>
        </p:nvSpPr>
        <p:spPr>
          <a:xfrm>
            <a:off x="457200" y="3950208"/>
            <a:ext cx="1005840" cy="384048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8" name="Text 34"/>
          <p:cNvSpPr/>
          <p:nvPr/>
        </p:nvSpPr>
        <p:spPr>
          <a:xfrm>
            <a:off x="457200" y="3950208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Hoy</a:t>
            </a:r>
            <a:endParaRPr lang="en-US" sz="1200" dirty="0"/>
          </a:p>
        </p:txBody>
      </p:sp>
      <p:sp>
        <p:nvSpPr>
          <p:cNvPr id="39" name="Shape 35"/>
          <p:cNvSpPr/>
          <p:nvPr/>
        </p:nvSpPr>
        <p:spPr>
          <a:xfrm>
            <a:off x="1554480" y="4114800"/>
            <a:ext cx="274320" cy="36576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40" name="Text 36"/>
          <p:cNvSpPr/>
          <p:nvPr/>
        </p:nvSpPr>
        <p:spPr>
          <a:xfrm>
            <a:off x="1920240" y="3950208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 siendo el protocolo más usado en automatización industrial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¿Por qué Modbus se hizo tan popular?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35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1005840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594360" y="10058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Abierto y gratuito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566160" y="10058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licencia, sin royalties. Cualquier fabricante puede implementarlo.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1536192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594360" y="153619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Simple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566160" y="153619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mensajes básica: pregunta y respuesta. Fácil de programar.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57200" y="2066544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594360" y="206654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Flexible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566160" y="2066544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sobre RS-232, RS-485, Ethernet. Se adapta a cualquier medio físico.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57200" y="2596896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594360" y="259689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Confiable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3566160" y="2596896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CRC de 16 bits para verificar integridad. Usado en ambientes industriales hostiles.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457200" y="3127248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594360" y="312724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Universal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3566160" y="312724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Soportado por prácticamente todos los SCADA, HMI, PLCs y sensores inteligentes del mercado.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57200" y="3657600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25" name="Text 21"/>
          <p:cNvSpPr/>
          <p:nvPr/>
        </p:nvSpPr>
        <p:spPr>
          <a:xfrm>
            <a:off x="594360" y="36576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Bien documentado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3566160" y="36576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Especificaciones públicas en modbus.org. Comunidad activa de soporte.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Primeros dispositivos con Modbus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35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primeros equipos en usar Modbus fueron los PLCs Modicon de la serie 084 y 184, comunicándose por RS-232 con paneles de programación.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Rápidamente se extendió a: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57200" y="2103120"/>
            <a:ext cx="1828800" cy="3840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Text 7"/>
          <p:cNvSpPr/>
          <p:nvPr/>
        </p:nvSpPr>
        <p:spPr>
          <a:xfrm>
            <a:off x="457200" y="21031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PLCs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2468880" y="2103120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Modicon 084/184, Allen-Bradley, Siemens, Delta DVP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57200" y="2514600"/>
            <a:ext cx="1828800" cy="384048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4" name="Text 10"/>
          <p:cNvSpPr/>
          <p:nvPr/>
        </p:nvSpPr>
        <p:spPr>
          <a:xfrm>
            <a:off x="457200" y="25146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SCADA / HMI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468880" y="2514600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Wonderware, iFIX, WinCC, Rapid SCADA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2926080"/>
            <a:ext cx="1828800" cy="38404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7" name="Text 13"/>
          <p:cNvSpPr/>
          <p:nvPr/>
        </p:nvSpPr>
        <p:spPr>
          <a:xfrm>
            <a:off x="457200" y="292608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Variadores (VFD)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2468880" y="2926080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ABB, Danfoss, Delta VFD, Siemens Micromaster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57200" y="3337560"/>
            <a:ext cx="1828800" cy="384048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20" name="Text 16"/>
          <p:cNvSpPr/>
          <p:nvPr/>
        </p:nvSpPr>
        <p:spPr>
          <a:xfrm>
            <a:off x="457200" y="33375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 inteligentes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2468880" y="3337560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Transmisores de presión, caudalímetros, analizadores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57200" y="3749040"/>
            <a:ext cx="1828800" cy="38404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3" name="Text 19"/>
          <p:cNvSpPr/>
          <p:nvPr/>
        </p:nvSpPr>
        <p:spPr>
          <a:xfrm>
            <a:off x="457200" y="3749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Medidores de energía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2468880" y="3749040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Schneider PM, Carlo Gavazzi, Eastron SDM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457200" y="4160520"/>
            <a:ext cx="1828800" cy="384048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6" name="Text 22"/>
          <p:cNvSpPr/>
          <p:nvPr/>
        </p:nvSpPr>
        <p:spPr>
          <a:xfrm>
            <a:off x="457200" y="41605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RTU remotas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2468880" y="4160520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 de telemetría en gasoductos, oleoductos, agua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los gasoductos argentinos (como los de TGS/TGN), Modbus es el protocolo principal para los sistemas Line Break como los que fabrica VALBOL.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Las tres versiones de Modbus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35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286000"/>
                <a:gridCol w="2286000"/>
                <a:gridCol w="2377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Modbus RTU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Modbus ASCII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Modbus TCP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08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Año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 físico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RS-232 / RS-485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RS-232 / RS-485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Ethernet (TCP/IP)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Formato datos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Binario compacto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Caracteres ASCII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Binario (como RTU)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Velocidad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Hasta 115200 bps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Más lento (texto)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Mbps+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CRC 16 bits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TCP checksum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1200m (RS-485)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1200m (RS-485)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100m + switches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Conexiones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master, 247 slaves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master, 247 slaves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Múltiples clientes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 actual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Muy común (serie)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Poco común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Estándar Ethernet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este curso nos enfocamos en Modbus TCP porque el DVP12SE tiene Ethernet integrado. Los conceptos de registros y funciones son iguales en las tres versiones.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1031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BLOQUE B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48640" y="30175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Modbus TCP (40 min)</a:t>
            </a:r>
            <a:endParaRPr lang="en-US" sz="1600" dirty="0"/>
          </a:p>
        </p:txBody>
      </p:sp>
      <p:pic>
        <p:nvPicPr>
          <p:cNvPr id="6" name="Image 1" descr="/home/claude/valbol_log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74320"/>
            <a:ext cx="1828800" cy="457200"/>
          </a:xfrm>
          <a:prstGeom prst="rect">
            <a:avLst/>
          </a:prstGeom>
        </p:spPr>
      </p:pic>
      <p:pic>
        <p:nvPicPr>
          <p:cNvPr id="7" name="Image 2" descr="/home/claude/smartflex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438912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Arquitectura Master / Slave (Cliente / Servidor)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35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Modbus, siempre hay un dispositivo que PREGUNTA (Master/Cliente) y otro que RESPONDE (Slave/Servidor).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esclavo NUNCA inicia la comunicación.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57200" y="2194560"/>
            <a:ext cx="2743200" cy="13716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457200" y="219456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/ CLIENTE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(PC, SCADA, HMI)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Pregunta: "Dame D0"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943600" y="2194560"/>
            <a:ext cx="2743200" cy="1371600"/>
          </a:xfrm>
          <a:prstGeom prst="rect">
            <a:avLst/>
          </a:prstGeom>
          <a:solidFill>
            <a:srgbClr val="16A085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5943600" y="219456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SLAVE / SERVIDOR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(PLC DVP12SE)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Responde: "D0 = 350"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291840" y="2514600"/>
            <a:ext cx="256032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5" name="Text 11"/>
          <p:cNvSpPr/>
          <p:nvPr/>
        </p:nvSpPr>
        <p:spPr>
          <a:xfrm>
            <a:off x="3291840" y="22860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→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291840" y="3154680"/>
            <a:ext cx="2560320" cy="5486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7" name="Text 13"/>
          <p:cNvSpPr/>
          <p:nvPr/>
        </p:nvSpPr>
        <p:spPr>
          <a:xfrm>
            <a:off x="3291840" y="32461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Respuesta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nuestro caso: el PLC DVP12SE siempre es el SERVIDOR (esclavo). La PC, SCADA o HMI es el CLIENTE (master) que pide datos.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 de datos Modbus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35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Modbus organiza la información en 4 tipos de objetos: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71600"/>
          <a:ext cx="8595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97280"/>
                <a:gridCol w="1645920"/>
                <a:gridCol w="1371600"/>
                <a:gridCol w="2468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Modbus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Tamaño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Equivalente PLC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Coils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bit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Lectura/Escritura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0xxxx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 (salidas), M (relés)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Discrete Inputs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bit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lectura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1xxxx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(entradas)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E44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Registers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bits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lectura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3xxxx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(registros especiales)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A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Holding Registers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bits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Lectura/Escritura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4xxxx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(registros de datos)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457200" y="32918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tipo más usado es Holding Registers (4xxxx) porque corresponde a los registros D del PLC, donde almacenamos valores como presión, temperatura, estados, etc.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Importante: </a:t>
            </a:r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dirección Modbus 40001 = registro D0 del PLC. La numeración empieza en 1, no en 0.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Mapeo de registros: PLC Delta → Modbus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35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645920"/>
                <a:gridCol w="2011680"/>
                <a:gridCol w="1645920"/>
                <a:gridCol w="1920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Dispositivo PLC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Rango PLC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Dirección Modbus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D0-D4999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A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40001-45000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H03 / H06 / H10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Holding Register (R/W)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A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A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D0 = 40001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A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40101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A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D100 = 40101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M0-M4095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00001-04096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H01 / H05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Coil (R/W, 1 bit)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Y0-Y377 (octal)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00501-00756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H01 / H05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Coil (salida digital)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X0-X377 (octal)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980B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10001-10256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Discrete Input (solo lectura)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Text 6"/>
          <p:cNvSpPr/>
          <p:nvPr/>
        </p:nvSpPr>
        <p:spPr>
          <a:xfrm>
            <a:off x="640080" y="3703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rápida: </a:t>
            </a:r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Modbus = 40001 + número de registro D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D150 → 40001 + 150 = 40151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Funciones Modbus principales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35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560320"/>
                <a:gridCol w="2560320"/>
                <a:gridCol w="2377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 práctico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Coils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Leer bits (M, 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5A5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Leer estado de salidas Y0-Y3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Discrete Inputs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Leer bits solo lectura (X)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5A5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Leer sensores X0-X7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A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A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Holding Registers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Leer registros D (16 bits)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5A5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Leer presión en D0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 Single Coil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Escribir 1 bit (M, 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5A5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Forzar Y0 = 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A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A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 Single Register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Escribir 1 registro 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5A5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Setear umbral en D100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A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A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 Multiple Registers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Escribir varios registros 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5A5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Cargar config D100-D110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funciones H03, H06 y H10 (resaltadas en verde) son las más usadas en el 90% de las aplicaciones industriales. Empezamos por ahí.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Estructura de una trama Modbus TCP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35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un cliente envía un pedido Modbus TCP, la trama tiene esta estructura: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57200" y="1554480"/>
            <a:ext cx="228600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Text 7"/>
          <p:cNvSpPr/>
          <p:nvPr/>
        </p:nvSpPr>
        <p:spPr>
          <a:xfrm>
            <a:off x="457200" y="15544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MBAP Header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2103120"/>
            <a:ext cx="2286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48640" y="214884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ID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ID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ID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2880360" y="1554480"/>
            <a:ext cx="1371600" cy="54864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5" name="Text 11"/>
          <p:cNvSpPr/>
          <p:nvPr/>
        </p:nvSpPr>
        <p:spPr>
          <a:xfrm>
            <a:off x="2880360" y="15544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2880360" y="2103120"/>
            <a:ext cx="1371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971800" y="214884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H03, H06,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H10, etc.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389120" y="1554480"/>
            <a:ext cx="2286000" cy="5486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9" name="Text 15"/>
          <p:cNvSpPr/>
          <p:nvPr/>
        </p:nvSpPr>
        <p:spPr>
          <a:xfrm>
            <a:off x="4389120" y="15544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389120" y="2103120"/>
            <a:ext cx="2286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480560" y="214884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inicio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 registros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 valores)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6812280" y="1554480"/>
            <a:ext cx="1828800" cy="548640"/>
          </a:xfrm>
          <a:prstGeom prst="rect">
            <a:avLst/>
          </a:prstGeom>
          <a:solidFill>
            <a:srgbClr val="95A5A6"/>
          </a:solidFill>
          <a:ln/>
        </p:spPr>
      </p:sp>
      <p:sp>
        <p:nvSpPr>
          <p:cNvPr id="23" name="Text 19"/>
          <p:cNvSpPr/>
          <p:nvPr/>
        </p:nvSpPr>
        <p:spPr>
          <a:xfrm>
            <a:off x="6812280" y="15544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(TCP 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encarga)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6812280" y="2103120"/>
            <a:ext cx="1828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95A5A6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903720" y="21488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Checksum,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retransmisión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leer 5 registros desde D0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Pedido:   [00 01] [00 00] [00 06] [01]  [03]  [00 00] [00 05]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TxID    Proto   Len   Unit  FC03  Dir=0   Cant=5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Respuesta: [00 01] [00 00] [00 0D] [01]  [03]  [0A]  [01 5E] [00 FA] ...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TxID    Proto   Len   Unit  FC03  Bytes  D0=350  D1=250 ...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DVP12SE como servidor Modbus TCP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35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PLC viene configurado de fábrica como servidor Modbus TCP. No hay que hacer NADA para habilitarlo.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21408"/>
            <a:ext cx="228600" cy="228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68680" y="2103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TCP: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3474720" y="21031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502 (estándar Modbus, no se cambia)</a:t>
            </a:r>
            <a:endParaRPr lang="en-US" sz="12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459736"/>
            <a:ext cx="228600" cy="228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68680" y="24414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Conexiones simultáneas: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3474720" y="244144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16 clientes conectados al mismo tiempo</a:t>
            </a:r>
            <a:endParaRPr lang="en-US" sz="12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798064"/>
            <a:ext cx="228600" cy="2286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68680" y="277977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soportadas:</a:t>
            </a:r>
            <a:endParaRPr lang="en-US" sz="1200" dirty="0"/>
          </a:p>
        </p:txBody>
      </p:sp>
      <p:sp>
        <p:nvSpPr>
          <p:cNvPr id="18" name="Text 11"/>
          <p:cNvSpPr/>
          <p:nvPr/>
        </p:nvSpPr>
        <p:spPr>
          <a:xfrm>
            <a:off x="3474720" y="277977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H01, H02, H03, H05, H06, H10 (todas las principales)</a:t>
            </a:r>
            <a:endParaRPr lang="en-US" sz="12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136392"/>
            <a:ext cx="228600" cy="2286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68680" y="311810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accesibles:</a:t>
            </a:r>
            <a:endParaRPr lang="en-US" sz="1200" dirty="0"/>
          </a:p>
        </p:txBody>
      </p:sp>
      <p:sp>
        <p:nvSpPr>
          <p:cNvPr id="21" name="Text 13"/>
          <p:cNvSpPr/>
          <p:nvPr/>
        </p:nvSpPr>
        <p:spPr>
          <a:xfrm>
            <a:off x="3474720" y="311810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D, M, X, Y, T, C – todo el mapa de memoria del PLC</a:t>
            </a:r>
            <a:endParaRPr lang="en-US" sz="12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3474720"/>
            <a:ext cx="228600" cy="22860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868680" y="34564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Latencia típica:</a:t>
            </a:r>
            <a:endParaRPr lang="en-US" sz="1200" dirty="0"/>
          </a:p>
        </p:txBody>
      </p:sp>
      <p:sp>
        <p:nvSpPr>
          <p:cNvPr id="24" name="Text 15"/>
          <p:cNvSpPr/>
          <p:nvPr/>
        </p:nvSpPr>
        <p:spPr>
          <a:xfrm>
            <a:off x="3474720" y="345643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10ms para lectura de registros</a:t>
            </a:r>
            <a:endParaRPr lang="en-US" sz="12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3813048"/>
            <a:ext cx="228600" cy="22860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868680" y="3794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Seguridad:</a:t>
            </a:r>
            <a:endParaRPr lang="en-US" sz="1200" dirty="0"/>
          </a:p>
        </p:txBody>
      </p:sp>
      <p:sp>
        <p:nvSpPr>
          <p:cNvPr id="27" name="Text 17"/>
          <p:cNvSpPr/>
          <p:nvPr/>
        </p:nvSpPr>
        <p:spPr>
          <a:xfrm>
            <a:off x="3474720" y="37947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Filter (firewall básico) configurable en DCISoft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1031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BLOQUE C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48640" y="30175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Ejercicios prácticos graduales (120 min)</a:t>
            </a:r>
            <a:endParaRPr lang="en-US" sz="1600" dirty="0"/>
          </a:p>
        </p:txBody>
      </p:sp>
      <p:pic>
        <p:nvPicPr>
          <p:cNvPr id="6" name="Image 1" descr="/home/claude/valbol_log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74320"/>
            <a:ext cx="1828800" cy="457200"/>
          </a:xfrm>
          <a:prstGeom prst="rect">
            <a:avLst/>
          </a:prstGeom>
        </p:spPr>
      </p:pic>
      <p:pic>
        <p:nvPicPr>
          <p:cNvPr id="7" name="Image 2" descr="/home/claude/smartflex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438912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Ejercicio 1: Primer contacto con ModbusClientX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35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PRÁCTICA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57200" y="146304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</a:t>
            </a:r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Conectarse al PLC desde ModbusClientX y leer registros.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Duración: 15 min  |  Dificultad: ⭐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Preparación: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Abrir ModbusClientX (ya instalado en la PC)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Configurar: IP = 192.168.0.82, Puerto = 502, Slave ID = 1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Click "Connect" → verificar que se conecta sin error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Function: Read Holding Registers (FC03)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Start Address: 0  (= D0 = Modbus 40001)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Quantity: 10  (leer D0 a D9)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Click "Read" → observar los valores que aparecen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Completado: </a:t>
            </a:r>
            <a:pPr indent="0" marL="0">
              <a:buNone/>
            </a:pPr>
            <a:r>
              <a:rPr lang="en-US" sz="130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 10 valores numéricos leídos del PLC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Ejercicio 2: Leer entradas reales del PLC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35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PRÁCTICA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57200" y="146304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</a:t>
            </a:r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el estado de las entradas físicas X0-X7 por Modbus.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Duración: 15 min  |  Dificultad: ⭐⭐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ISPSoft (programa Ladder):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MOV K8X0 D50    // Copiar estado de X0-X7 a D50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(esto pone el estado binario de las 8 entradas en un solo registro D)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ModbusClientX: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FC03 → Start: 50 → Quantity: 1  (leer D50)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Activar una entrada física del PLC (ej: puentear X0)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Volver a leer D50 → el valor debe haber cambiado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Identificar qué bit cambió (X0 = bit 0, X1 = bit 1, etc.)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Completado: </a:t>
            </a:r>
            <a:pPr indent="0" marL="0">
              <a:buNone/>
            </a:pPr>
            <a:r>
              <a:rPr lang="en-US" sz="120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Podés leer el estado real de los sensores del PLC en forma remota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Ejercicio 3: Escribir valores en registros 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35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PRÁCTICA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57200" y="146304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</a:t>
            </a:r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valores desde la PC al PLC usando Modbus.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Duración: 15 min  |  Dificultad: ⭐⭐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ModbusClientX: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Function: Write Single Register (FC06)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Address: 100  (= D100)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Value: 999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Click "Write" → verificar que no hay error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en ISPSoft: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Activar Monitor Mode (F8) → buscar D100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Verificar que D100 = 999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Repetir: escribir D101 = 500, D102 = 250 desde ModbusClientX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Verificar todos los valores en ISPSoft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Completado: </a:t>
            </a:r>
            <a:pPr indent="0" marL="0">
              <a:buNone/>
            </a:pPr>
            <a:r>
              <a:rPr lang="en-US" sz="120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Podés enviar datos desde una PC al PLC remotamente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Ejercicio 4: Leer y escribir simultáneamente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35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PRÁCTICA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57200" y="146304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</a:t>
            </a:r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Combinar lectura y escritura en un flujo continuo.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Duración: 15 min  |  Dificultad: ⭐⭐⭐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Ladder (cargar y descargar al PLC):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// D0 = contador que incrementa cada segundo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TMR T0 K10         // Timer 1 segundo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T0  INC D0         // Incrementar D0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T0  RST T0         // Reset timer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// D100 = umbral (lo escribe la PC remotamente)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CMP D0 D100 M10    // M10=ON si D0 &gt;= D100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ModbusClientX: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FC03: leer D0 repetidamente → ver el contador subiendo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FC06: escribir D100 = 50 (umbral)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Observar: cuando D0 llega a 50, M10 se activa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Cambiar D100 a 100 y ver cómo cambia el comportamiento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Ejercicio 5: Simular datos Line Break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35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PRÁCTICA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</a:t>
            </a:r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programa que simule un tablero Line Break y leerlo por Modbus.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Duración: 20 min  |  Dificultad: ⭐⭐⭐⭐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registros del tablero simulado:</a:t>
            </a:r>
            <a:endParaRPr lang="en-US" sz="1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6032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011680"/>
                <a:gridCol w="3017520"/>
                <a:gridCol w="11887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Modbus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Presión sensor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0-1000 (x0.1 bar)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Presión sensor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0-1000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Presión sensor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0-1000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 válvula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0=Cerrada 1=Abierta 2=Transición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Modo operación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0=Manual 1=Automático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Alarmas activas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Bitfield (bit0=baja P, bit1=alta P...)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Programar en Ladder: simular valores variables con temporizadores y leer todo desde ModbusClientX.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Ejercicio 6: Data Exchange PLC a PLC (DCISoft)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35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PRÁCTICA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57200" y="146304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</a:t>
            </a:r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intercambio automático de datos entre PLCs con DCISoft.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Duración: 20 min  |  Dificultad: ⭐⭐⭐⭐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hay 2 PLCs disponibles: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Abrir DCISoft → Conectar al PLC Master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Data Exchange → Enable: Always Enable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Agregar Slave: ID=2, IP del segundo PLC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Lectura: D0-D9 del Slave → D200-D209 del Master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Escritura: D100-D109 del Master → D100-D109 del Slave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Apply → verificar en Monitor Mode que los datos fluyen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hay 1 solo PLC: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ModbusClientX como "esclavo virtual" – el PLC lee/escribe contra la PC.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Completado: </a:t>
            </a:r>
            <a:pPr indent="0" marL="0">
              <a:buNone/>
            </a:pPr>
            <a:r>
              <a:rPr lang="en-US" sz="120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fluyendo automáticamente entre dispositivos sin intervención manual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1031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BLOQUE D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48640" y="30175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Repaso, preguntas y cierre</a:t>
            </a:r>
            <a:endParaRPr lang="en-US" sz="1600" dirty="0"/>
          </a:p>
        </p:txBody>
      </p:sp>
      <p:pic>
        <p:nvPicPr>
          <p:cNvPr id="6" name="Image 1" descr="/home/claude/valbol_log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74320"/>
            <a:ext cx="1828800" cy="457200"/>
          </a:xfrm>
          <a:prstGeom prst="rect">
            <a:avLst/>
          </a:prstGeom>
        </p:spPr>
      </p:pic>
      <p:pic>
        <p:nvPicPr>
          <p:cNvPr id="7" name="Image 2" descr="/home/claude/smartflex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438912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Resumen: lo que aprendimos de Modbus TCP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35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1005840"/>
            <a:ext cx="8229600" cy="484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88136"/>
            <a:ext cx="292608" cy="29260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05840" y="1005840"/>
            <a:ext cx="1645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2743200" y="1005840"/>
            <a:ext cx="57607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Creado en 1979 por Modicon. Estándar abierto, gratuito, el más usado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457200" y="1517904"/>
            <a:ext cx="8229600" cy="484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600200"/>
            <a:ext cx="292608" cy="2926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05840" y="1517904"/>
            <a:ext cx="1645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2743200" y="1517904"/>
            <a:ext cx="57607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pregunta, Slave responde. PLC = Servidor (puerto 502)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457200" y="2029968"/>
            <a:ext cx="8229600" cy="484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112264"/>
            <a:ext cx="292608" cy="29260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05840" y="2029968"/>
            <a:ext cx="1645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2743200" y="2029968"/>
            <a:ext cx="57607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D=Holding (4xxxx), M/Y=Coils (0xxxx), X=Discrete (1xxxx)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457200" y="2542032"/>
            <a:ext cx="8229600" cy="484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2624328"/>
            <a:ext cx="292608" cy="29260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005840" y="2542032"/>
            <a:ext cx="1645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</a:t>
            </a:r>
            <a:endParaRPr lang="en-US" sz="1200" dirty="0"/>
          </a:p>
        </p:txBody>
      </p:sp>
      <p:sp>
        <p:nvSpPr>
          <p:cNvPr id="24" name="Text 16"/>
          <p:cNvSpPr/>
          <p:nvPr/>
        </p:nvSpPr>
        <p:spPr>
          <a:xfrm>
            <a:off x="2743200" y="2542032"/>
            <a:ext cx="57607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H03=Leer, H06=Escribir 1, H10=Escribir varios</a:t>
            </a:r>
            <a:endParaRPr lang="en-US" sz="1200" dirty="0"/>
          </a:p>
        </p:txBody>
      </p:sp>
      <p:sp>
        <p:nvSpPr>
          <p:cNvPr id="25" name="Shape 17"/>
          <p:cNvSpPr/>
          <p:nvPr/>
        </p:nvSpPr>
        <p:spPr>
          <a:xfrm>
            <a:off x="457200" y="3054096"/>
            <a:ext cx="8229600" cy="484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3136392"/>
            <a:ext cx="292608" cy="292608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1005840" y="3054096"/>
            <a:ext cx="1645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</a:t>
            </a:r>
            <a:endParaRPr lang="en-US" sz="1200" dirty="0"/>
          </a:p>
        </p:txBody>
      </p:sp>
      <p:sp>
        <p:nvSpPr>
          <p:cNvPr id="28" name="Text 19"/>
          <p:cNvSpPr/>
          <p:nvPr/>
        </p:nvSpPr>
        <p:spPr>
          <a:xfrm>
            <a:off x="2743200" y="3054096"/>
            <a:ext cx="57607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Dir. Modbus = 40001 + número de D  (D100 = 40101)</a:t>
            </a:r>
            <a:endParaRPr lang="en-US" sz="1200" dirty="0"/>
          </a:p>
        </p:txBody>
      </p:sp>
      <p:sp>
        <p:nvSpPr>
          <p:cNvPr id="29" name="Shape 20"/>
          <p:cNvSpPr/>
          <p:nvPr/>
        </p:nvSpPr>
        <p:spPr>
          <a:xfrm>
            <a:off x="457200" y="3566160"/>
            <a:ext cx="8229600" cy="484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" y="3648456"/>
            <a:ext cx="292608" cy="292608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1005840" y="3566160"/>
            <a:ext cx="1645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Exchange</a:t>
            </a:r>
            <a:endParaRPr lang="en-US" sz="1200" dirty="0"/>
          </a:p>
        </p:txBody>
      </p:sp>
      <p:sp>
        <p:nvSpPr>
          <p:cNvPr id="32" name="Text 22"/>
          <p:cNvSpPr/>
          <p:nvPr/>
        </p:nvSpPr>
        <p:spPr>
          <a:xfrm>
            <a:off x="2743200" y="3566160"/>
            <a:ext cx="57607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DCISoft configura intercambio automático PLC a PLC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Preguntas de verificación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35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1005840"/>
            <a:ext cx="365760" cy="36576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1005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914400" y="1005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empresa creó Modbus y en qué año?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57200" y="1408176"/>
            <a:ext cx="365760" cy="36576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3" name="Text 9"/>
          <p:cNvSpPr/>
          <p:nvPr/>
        </p:nvSpPr>
        <p:spPr>
          <a:xfrm>
            <a:off x="457200" y="14081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914400" y="140817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diferencia hay entre Master y Slave?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57200" y="1810512"/>
            <a:ext cx="365760" cy="36576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6" name="Text 12"/>
          <p:cNvSpPr/>
          <p:nvPr/>
        </p:nvSpPr>
        <p:spPr>
          <a:xfrm>
            <a:off x="457200" y="18105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914400" y="181051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 qué puerto TCP escucha el PLC como servidor Modbus?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457200" y="2212848"/>
            <a:ext cx="365760" cy="36576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9" name="Text 15"/>
          <p:cNvSpPr/>
          <p:nvPr/>
        </p:nvSpPr>
        <p:spPr>
          <a:xfrm>
            <a:off x="457200" y="2212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914400" y="221284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función Modbus uso para LEER registros D?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457200" y="2615184"/>
            <a:ext cx="365760" cy="36576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22" name="Text 18"/>
          <p:cNvSpPr/>
          <p:nvPr/>
        </p:nvSpPr>
        <p:spPr>
          <a:xfrm>
            <a:off x="457200" y="26151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914400" y="261518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¿A qué dirección Modbus corresponde el registro D200?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457200" y="3017520"/>
            <a:ext cx="365760" cy="36576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25" name="Text 21"/>
          <p:cNvSpPr/>
          <p:nvPr/>
        </p:nvSpPr>
        <p:spPr>
          <a:xfrm>
            <a:off x="45720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914400" y="3017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¿Puedo escribir en las entradas X del PLC por Modbus?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457200" y="3419856"/>
            <a:ext cx="365760" cy="36576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28" name="Text 24"/>
          <p:cNvSpPr/>
          <p:nvPr/>
        </p:nvSpPr>
        <p:spPr>
          <a:xfrm>
            <a:off x="457200" y="34198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914400" y="341985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herramienta uso para configurar Data Exchange entre PLCs?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822192"/>
            <a:ext cx="365760" cy="36576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1" name="Text 27"/>
          <p:cNvSpPr/>
          <p:nvPr/>
        </p:nvSpPr>
        <p:spPr>
          <a:xfrm>
            <a:off x="457200" y="38221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914400" y="38221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¿Cuántas conexiones simultáneas soporta el DVP12SE?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Respuestas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35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100584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822960" y="10058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Modicon, 1979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114800" y="10058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(ahora parte de Schneider Electric)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57200" y="138988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822960" y="13898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pregunta, Slave responde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114800" y="138988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(el PLC es siempre el Slave/Servidor)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57200" y="177393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822960" y="177393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502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114800" y="177393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(estándar Modbus TCP, no se cambia)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57200" y="215798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822960" y="215798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H03 (Read Holding Registers)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4114800" y="215798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(FC03 en ModbusClientX)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457200" y="254203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822960" y="25420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40201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4114800" y="254203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(40001 + 200 = 40201)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457200" y="292608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822960" y="29260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No, X son solo lectura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4114800" y="29260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(Discrete Inputs, función H02)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57200" y="331012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822960" y="331012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DCISoft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4114800" y="331012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(Data Exchange con Master/Slave)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457200" y="369417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822960" y="369417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clientes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4114800" y="369417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(simultáneamente)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 2 completado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286000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377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¡Buen trabajo!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módulo: Socket TCP – SOCKSND / SOCKRCV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en formato libre para aplicaciones custom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de 15 minutos</a:t>
            </a:r>
            <a:endParaRPr lang="en-US" sz="1400" dirty="0"/>
          </a:p>
        </p:txBody>
      </p:sp>
      <p:pic>
        <p:nvPicPr>
          <p:cNvPr id="8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274320"/>
            <a:ext cx="1828800" cy="457200"/>
          </a:xfrm>
          <a:prstGeom prst="rect">
            <a:avLst/>
          </a:prstGeom>
        </p:spPr>
      </p:pic>
      <p:pic>
        <p:nvPicPr>
          <p:cNvPr id="9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438912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Modulo 2 - Modbus TCP</dc:title>
  <dc:subject>PptxGenJS Presentation</dc:subject>
  <dc:creator>VALBOL</dc:creator>
  <cp:lastModifiedBy>VALBOL</cp:lastModifiedBy>
  <cp:revision>1</cp:revision>
  <dcterms:created xsi:type="dcterms:W3CDTF">2026-03-09T18:01:23Z</dcterms:created>
  <dcterms:modified xsi:type="dcterms:W3CDTF">2026-03-09T18:01:23Z</dcterms:modified>
</cp:coreProperties>
</file>