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para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Industrial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MAC, DHCP, Switch, Router y herramientas de diagnóstico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45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del Módulo 1 – Sección Redes ampliada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y MAC (10 min)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vs Estática (8 min)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(12 min)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vs Router (15 min)</a:t>
            </a:r>
            <a:endParaRPr lang="en-US" sz="1000" dirty="0"/>
          </a:p>
        </p:txBody>
      </p:sp>
      <p:pic>
        <p:nvPicPr>
          <p:cNvPr id="1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6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IP y MAC (10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Dirección MAC: el DNI del dispositivo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dispositivo de red tiene una dirección MAC única asignada de fábrica.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= Media Access Control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pares hexadecimales:  00:1A:2B:3C:4D:5E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bits (6 bytes)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Asignada por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fabricante en fábrica (NO se puede cambiar)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Única en el mundo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– no existen dos MACs iguales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 en 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2 (Enlace / Ethernet)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la 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switch, para saber a qué puerto físico enviar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la MAC es como el número de DNI – te la asignan al nacer y no cambia nunca.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Dirección IP: la dirección postal del dispositivo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IP es la dirección lógica que le asignamos al dispositivo. A diferencia de la MAC, esta sí se puede cambiar.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= Internet Protocol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(IPv4)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números de 0-255:  192.168.0.82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 (4 bytes)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Asignada por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administrador (manual) o el router (DHCP)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cambiar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– se reconfigura cuando sea necesario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 en 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3 (Red / 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la 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router, para saber a qué RED enviar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la IP es como la dirección postal – te mudás de casa y la dirección cambia, pero tu DNI sigue igual.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 vs IP: ¿cómo se relacionan?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Física (hardware)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 (software)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(viene de fábrica)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(configurable)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(Enlace)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local (mismo switch)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local + entre 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00:1A:2B:3C:4D:5E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DNI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postal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ARP: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mantiene una tabla que vincula cada IP con su MAC. Así sabe: "la IP 192.168.0.82 corresponde a la MAC 00:1A:2B:3C:4D:5E".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verla: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 CMD y escribí </a:t>
            </a:r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-a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NO puede haber IPs duplicadas?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DOS DISPOSITIVOS CON LA MISMA IP = DESASTRE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dispositivos tienen la misma IP en una red, el switch no sabe a cuál entregar los datos. Resultado: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Conexión intermitente (a veces funciona, a veces no)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Respuestas de un dispositivo que eran para otro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ISPSoft se conecta y desconecta solo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Datos corruptos o mezclados entre dispositivos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detectarlo?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muestra: "Se ha detectado un conflicto de dirección IP"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ping responde con tiempos muy irregulares o con MACs distintas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prevenirlo?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un registro de IPs asignadas a cada PLC / dispositivo. Usar IPs fijas y documentadas.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vs IP estática (8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DHCP: asignación automática de 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= Dynamic Host Configuration Protocol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router asigna una IP automáticamente a cada dispositivo que se conecta.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920240"/>
            <a:ext cx="41148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920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05840" y="1920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se conecta a la red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322576"/>
            <a:ext cx="41148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232257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05840" y="23225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una IP al router (broadcast DHCP Discover)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724912"/>
            <a:ext cx="41148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27249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05840" y="27249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ofrece una IP libre (DHCP Offer)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3127248"/>
            <a:ext cx="41148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31272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05840" y="31272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acepta (DHCP Request)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3529584"/>
            <a:ext cx="41148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35295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005840" y="35295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confirma y la IP queda asignada por un tiempo (lease)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PCs, celulares, notebooks – dispositivos que van y vienen de la red.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estática: asignación manual fija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asigna la IP manualmente. No cambia nunca a menos que se reconfigure.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PLCs usan IP estática?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 SCADA necesita saber SIEMPRE en qué IP está el PLC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 la IP cambiara (DHCP), el SCADA perdería la conexión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Los programas Modbus apuntan a una IP fija (ej: 192.168.0.82)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Predictibilidad y control total sobre la red industrial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industrial: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PLCs, HMIs, switches industriales y sensores inteligentes SIEMPRE usan IP estática. Solo las PCs de oficina y celulares usan DHCP.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privada vs IP pública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IPs que usamos en la red del taller son privadas – solo funcionan dentro de la red local.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Privada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Pública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desde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 red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internet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Asignada por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admin / DHCP del 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proveedor de internet (ISP)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puede repetir?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(en redes distintas)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(única en el mundo)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Nuestro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PLCs, PCs del taller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usamos directamente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IP privada (memorizar estos tres):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10.255.255.255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corporativas grandes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172.31.255.255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medianas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192.168.255.255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domésticas / industriales pequeñas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diagnóstico (12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 – ¿El dispositivo está ahí?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más importante para verificar conexión de red. Envía un paquete y espera respuesta.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ping 192.168.0.82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Haciendo ping a 192.168.0.82 con 32 bytes de datos: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tiempo=1ms TTL=64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tiempo&lt;1ms TTL=64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tiempo=1ms TTL=64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tiempo&lt;1ms TTL=64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tiempo = milisegundos de ida y vuelta (menor = mejor)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TTL = Time To Live (saltos restantes)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pings y para (uso básico)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-t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continuo hasta Ctrl+C (monitoreo)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-n 20 192.168.0.82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Exactamente 20 pings (test específico)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 – ¿Qué significa cada respuesta?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tiempo=1ms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Todo OK, conexión rápida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Podés seguir con ISPSoft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tiempo=500ms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Conexión lenta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cable, interferencia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agotado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responde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IP, cable,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inalcanzable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 incorrecta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y PC en distinta subred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desconocido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Nombre no existe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IP numérica, no 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</a:t>
            </a:r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ping funciona, las capas 1 a 3 están bien.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ping falla, el problema es físico (cable) o de red (IP/máscara).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ping funciona pero ISPSoft no conecta, el problema es de software (COMMGR, puerto, protocolo).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ipconfig – Ver la configuración de mi PC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9601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ipconfig /all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Adaptador Ethernet: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Dirección física (MAC). . : 00-1A-2B-3C-4D-5E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Dirección IPv4. . . . . . : 192.168.0.10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Máscara de subred . . . . : 255.255.255.0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Puerta de enlace (Gateway): 192.168.0.1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Servidor DHCP . . . . . . : 192.168.0.1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ipconfig       = datos básicos (IP, máscara, gateway)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ipconfig /all  = todo (incluye MAC, DHCP, DNS)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clave que debés verificar: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IPv4 en la misma subred que el PLC (192.168.0.xx)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Máscara = 255.255.255.0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 usás DHCP: el gateway debe estar asignado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 MAC aparece como "Dirección física"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tracert – Ver el camino de los datos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todos los saltos (routers) que atraviesan los datos hasta llegar al destino.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14173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tracert 192.168.0.82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Traza a 192.168.0.82 sobre un máximo de 30 saltos: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 &lt;1 ms    &lt;1 ms    &lt;1 ms   192.168.0.1     [router]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 &lt;1 ms    &lt;1 ms    &lt;1 ms   192.168.0.82    [PLC!]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una red local, debería haber 1-2 saltos máximo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 hay muchos saltos = los datos están pasando por equipos innecesarios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tracert?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Cuando el ping funciona pero hay latencia alta (muchos saltos)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entender la topología de la red (por dónde viajan los datos)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detectar routers o firewalls intermedios que agregan demora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arp -a – Ver la tabla MAC ↔ 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9601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arp -a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Interfaz: 192.168.0.10 --- 0xa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Dirección IP        Dirección física      Tipo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192.168.0.1         aa-bb-cc-dd-ee-01   dinámico  [router]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192.168.0.82        00-1a-2b-3c-4d-5e   dinámico  [PLC!]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192.168.0.100       ff-11-22-33-44-55   dinámico  [otra PC]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Muestra qué MAC tiene cada IP que contactamos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Útil para detectar conflictos de IP (2 MACs distintas para la misma IP)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comandos: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¿El dispositivo está conectado y responde?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 /all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¿Cuál es MI IP, máscara, MAC y gateway?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tracert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¿Por dónde viajan los datos hasta llegar?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 -a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MAC tiene cada IP que contactamos?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vs Router – Armar una red local (15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Switch: el cartero de la red local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switch conecta dispositivos dentro de la misma red. Trabaja en capa 2 (MAC).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Reenvía tramas Ethernet entre puertos basado en 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(Enlace)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 IP?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– no sabe nada de 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Puertos típicos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8, 16 o 24 puertos RJ45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 o 1 Gbps por puerto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 redes distintas?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– solo dispositivos en la MISMA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industrial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PLCs, HMIs, PCs en el mismo gabinete/taller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el switch es como un zapatero de cables inteligente – sabe a qué boca mandar cada dato, pero no asigna direcciones.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Router: el que conecta redes distintas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router conecta dos o más redes diferentes entre sí. Trabaja en capa 3 (IP).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Enruta paquetes IP entre redes distintas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(Red / 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 IP?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– tiene servidor DHCP integrado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Traduce IPs privadas a la IP pública para salir a internet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Generalmente incluye filtrado básico de tráfico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 redes distintas?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– red local ↔ internet, red oficina ↔ red planta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industrial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red del taller a internet o a red corporativa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vs Router: comparativa directa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  <a:gridCol w="3154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 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Direcciones 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Direcciones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OSI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(Enlace)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 IPs?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(DHCP)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Dispositivos DENTRO de 1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DISTINTAS entre 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a internet?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(NAT)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típico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$10-50 USD (industrial: más)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$30-200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 &amp; play (sin config)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configuración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Text 6"/>
          <p:cNvSpPr/>
          <p:nvPr/>
        </p:nvSpPr>
        <p:spPr>
          <a:xfrm>
            <a:off x="640080" y="3520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router WiFi de tu casa es 3 en 1: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(enruta a internet) + Switch (4-8 puertos Ethernet) + Access Point WiFi. Por eso confunde, pero son funciones distintas.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red del taller VALBOL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arma la red para las prácticas del curso: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474720" y="1280160"/>
            <a:ext cx="2194560" cy="54864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1" name="Text 7"/>
          <p:cNvSpPr/>
          <p:nvPr/>
        </p:nvSpPr>
        <p:spPr>
          <a:xfrm>
            <a:off x="3474720" y="1280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2011680"/>
            <a:ext cx="2743200" cy="64008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040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WiFi  (192.168.0.1)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+ NAT + WiFi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26280" y="1828800"/>
            <a:ext cx="91440" cy="18288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0" y="2926080"/>
            <a:ext cx="3657600" cy="5486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7432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 (8 puertos) – sin IP propia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26280" y="2651760"/>
            <a:ext cx="91440" cy="27432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8" name="Shape 14"/>
          <p:cNvSpPr/>
          <p:nvPr/>
        </p:nvSpPr>
        <p:spPr>
          <a:xfrm>
            <a:off x="274320" y="3749040"/>
            <a:ext cx="164592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5"/>
          <p:cNvSpPr/>
          <p:nvPr/>
        </p:nvSpPr>
        <p:spPr>
          <a:xfrm>
            <a:off x="2743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192.168.0.82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051560" y="3474720"/>
            <a:ext cx="91440" cy="27432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1" name="Shape 17"/>
          <p:cNvSpPr/>
          <p:nvPr/>
        </p:nvSpPr>
        <p:spPr>
          <a:xfrm>
            <a:off x="2286000" y="3749040"/>
            <a:ext cx="1645920" cy="6400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18"/>
          <p:cNvSpPr/>
          <p:nvPr/>
        </p:nvSpPr>
        <p:spPr>
          <a:xfrm>
            <a:off x="228600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192.168.0.10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063240" y="3474720"/>
            <a:ext cx="91440" cy="27432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4" name="Shape 20"/>
          <p:cNvSpPr/>
          <p:nvPr/>
        </p:nvSpPr>
        <p:spPr>
          <a:xfrm>
            <a:off x="4297680" y="3749040"/>
            <a:ext cx="1645920" cy="6400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1"/>
          <p:cNvSpPr/>
          <p:nvPr/>
        </p:nvSpPr>
        <p:spPr>
          <a:xfrm>
            <a:off x="429768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192.168.0.11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074920" y="3474720"/>
            <a:ext cx="91440" cy="27432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7" name="Shape 23"/>
          <p:cNvSpPr/>
          <p:nvPr/>
        </p:nvSpPr>
        <p:spPr>
          <a:xfrm>
            <a:off x="6309360" y="3749040"/>
            <a:ext cx="1645920" cy="6400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8" name="Text 24"/>
          <p:cNvSpPr/>
          <p:nvPr/>
        </p:nvSpPr>
        <p:spPr>
          <a:xfrm>
            <a:off x="630936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192.168.0.50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086600" y="3474720"/>
            <a:ext cx="91440" cy="27432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0" name="Shape 26"/>
          <p:cNvSpPr/>
          <p:nvPr/>
        </p:nvSpPr>
        <p:spPr>
          <a:xfrm>
            <a:off x="7315200" y="2011680"/>
            <a:ext cx="137160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7"/>
          <p:cNvSpPr/>
          <p:nvPr/>
        </p:nvSpPr>
        <p:spPr>
          <a:xfrm>
            <a:off x="731520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(WiFi+DHCP)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943600" y="2286000"/>
            <a:ext cx="1371600" cy="54864"/>
          </a:xfrm>
          <a:prstGeom prst="rect">
            <a:avLst/>
          </a:prstGeom>
          <a:solidFill>
            <a:srgbClr val="E8ECF0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 avanzado: VLANs (mención)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redes industriales grandes se usan VLANs para separar tráfico sin necesidad de cables físicos separados.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= Virtual LAN (Red Local Virtual)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un mismo switch físico se comporte como si fueran 2 switches separados.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típico: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VLAN 10: Red de oficina (PCs, impresoras) → 192.168.1.x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VLAN 20: Red industrial (PLCs, HMIs, SCADA) → 192.168.0.x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dispositivos de una VLAN NO ven a los de la otra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mejora la seguridad y el rendimiento de la red industrial.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vamos a configurar VLANs en este curso, pero es bueno saber que existen.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los comandos en CMD (10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Práctica: herramientas de diagnóstico en CMD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 – Cada participante en su PC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CMD (tecla Windows → escribir cmd → Enter)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ipconfig /all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Anotar: tu IP, máscara, gateway, MAC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192.168.0.82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¿Responde? ¿En cuánto tiempo?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-t 192.168.0.82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(dejar corriendo, Ctrl+C para parar)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Desconectar el cable del PLC y ver qué pasa. Reconectar.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tracert 192.168.0.82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¿Cuántos saltos hay? ¿Por dónde pasa?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-a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Buscar la IP del PLC en la tabla. ¿Qué MAC tiene?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verificación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1005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una dirección MAC y una IP?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1389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puede haber dos dispositivos con la misma IP?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1773936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17739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4400" y="17739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le pongo DHCP al PLC en vez de IP estática?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157984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1579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21579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uso para saber si el PLC responde?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2542032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5420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14400" y="2542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me muestra mi propia IP y MAC?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" y="2926080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29260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" y="29260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un switch y un router?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7200" y="3310128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33101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14400" y="33101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switch asigna IPs? ¿Y el router?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694176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6941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914400" y="36941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las IPs privadas y en qué rango están las nuestras?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914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MAC=física (fábrica, fija)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IP=lógica (configurable)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12801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switch no sabe a cuál entregar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54880" y="1280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intermitente y datos corruptos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1645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SCADA pierde conexión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1645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IP cambia el Modbus deja de funcionar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20116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22960" y="2011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192.168.0.82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5488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CMD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23774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22960" y="2377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ipconfig /all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377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IP, MAC, máscara, gateway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27432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2960" y="2743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Switch=capa 2 (MAC, misma red)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75488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Router=capa 3 (IP, entre redes)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31089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22960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 asigna IP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754880" y="3108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SÍ (DHCP)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3474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22960" y="3474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Privadas=solo red local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754880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192.168.0.0 - 192.168.255.255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bloque de redes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011680" y="10058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física única de fábrica – la usa el switch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1508760"/>
            <a:ext cx="13716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011680" y="15087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lógica configurable – la usa el router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011680" y="2011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automática de IP (PCs) vs Estática (PLCs)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514600"/>
            <a:ext cx="13716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011680" y="2514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conexión – si responde, capas 1-3 OK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3017520"/>
            <a:ext cx="13716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011680" y="3017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dispositivos en la misma red (capa 2, MAC)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" y="3520440"/>
            <a:ext cx="13716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01168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redes distintas, asigna IPs, sale a internet (capa 3)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estos conceptos claros, los problemas de conexión al PLC se resuelven en minutos, no en horas.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de redes completado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 sabés qué está pasando cuando conectás un cable al PLC.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Continuamos con la conexión al PLC en ISPSoft...</a:t>
            </a:r>
            <a:endParaRPr lang="en-US" sz="1400" dirty="0"/>
          </a:p>
        </p:txBody>
      </p:sp>
      <p:pic>
        <p:nvPicPr>
          <p:cNvPr id="7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8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para Automatizacion Industrial</dc:title>
  <dc:subject>PptxGenJS Presentation</dc:subject>
  <dc:creator>VALBOL</dc:creator>
  <cp:lastModifiedBy>VALBOL</cp:lastModifiedBy>
  <cp:revision>1</cp:revision>
  <dcterms:created xsi:type="dcterms:W3CDTF">2026-03-16T10:58:20Z</dcterms:created>
  <dcterms:modified xsi:type="dcterms:W3CDTF">2026-03-16T10:58:20Z</dcterms:modified>
</cp:coreProperties>
</file>